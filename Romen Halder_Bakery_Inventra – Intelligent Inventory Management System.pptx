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60" r:id="rId3"/>
    <p:sldId id="261" r:id="rId4"/>
    <p:sldId id="258" r:id="rId5"/>
    <p:sldId id="262" r:id="rId6"/>
    <p:sldId id="259"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027321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923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6184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7835FD-6300-46E7-9EEF-DCC0EC1049B7}"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771908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7835FD-6300-46E7-9EEF-DCC0EC1049B7}"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1721034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7835FD-6300-46E7-9EEF-DCC0EC1049B7}"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3256525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835FD-6300-46E7-9EEF-DCC0EC1049B7}"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1626006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7835FD-6300-46E7-9EEF-DCC0EC1049B7}"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3016360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7835FD-6300-46E7-9EEF-DCC0EC1049B7}"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88584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34743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9778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31525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75200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589575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27763591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7835FD-6300-46E7-9EEF-DCC0EC1049B7}"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851D11F-072C-4C4C-A652-D60F24459AB8}" type="slidenum">
              <a:rPr lang="en-IN" smtClean="0"/>
              <a:t>‹#›</a:t>
            </a:fld>
            <a:endParaRPr lang="en-IN"/>
          </a:p>
        </p:txBody>
      </p:sp>
    </p:spTree>
    <p:extLst>
      <p:ext uri="{BB962C8B-B14F-4D97-AF65-F5344CB8AC3E}">
        <p14:creationId xmlns:p14="http://schemas.microsoft.com/office/powerpoint/2010/main" val="79216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7835FD-6300-46E7-9EEF-DCC0EC1049B7}" type="datetimeFigureOut">
              <a:rPr lang="en-IN" smtClean="0"/>
              <a:t>11-02-2026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51D11F-072C-4C4C-A652-D60F24459AB8}" type="slidenum">
              <a:rPr lang="en-IN" smtClean="0"/>
              <a:t>‹#›</a:t>
            </a:fld>
            <a:endParaRPr lang="en-IN"/>
          </a:p>
        </p:txBody>
      </p:sp>
    </p:spTree>
    <p:extLst>
      <p:ext uri="{BB962C8B-B14F-4D97-AF65-F5344CB8AC3E}">
        <p14:creationId xmlns:p14="http://schemas.microsoft.com/office/powerpoint/2010/main" val="37437390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pixabay.com/en/database-data-storage-cylinder-149760/"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pixabay.com/en/database-data-storage-cylinder-149760/"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3AA58-22CA-0B7D-F7F3-366CFB6B2515}"/>
              </a:ext>
            </a:extLst>
          </p:cNvPr>
          <p:cNvSpPr>
            <a:spLocks noGrp="1"/>
          </p:cNvSpPr>
          <p:nvPr>
            <p:ph type="ctrTitle"/>
          </p:nvPr>
        </p:nvSpPr>
        <p:spPr/>
        <p:txBody>
          <a:bodyPr>
            <a:normAutofit fontScale="90000"/>
          </a:bodyPr>
          <a:lstStyle/>
          <a:p>
            <a:r>
              <a:rPr lang="en-IN" dirty="0" err="1"/>
              <a:t>Inventra</a:t>
            </a:r>
            <a:r>
              <a:rPr lang="en-IN" dirty="0"/>
              <a:t> – Intelligent Inventory Management System</a:t>
            </a:r>
          </a:p>
        </p:txBody>
      </p:sp>
      <p:sp>
        <p:nvSpPr>
          <p:cNvPr id="3" name="Subtitle 2">
            <a:extLst>
              <a:ext uri="{FF2B5EF4-FFF2-40B4-BE49-F238E27FC236}">
                <a16:creationId xmlns:a16="http://schemas.microsoft.com/office/drawing/2014/main" id="{89956490-99A0-2F6F-1EE0-1F796B4A730E}"/>
              </a:ext>
            </a:extLst>
          </p:cNvPr>
          <p:cNvSpPr>
            <a:spLocks noGrp="1"/>
          </p:cNvSpPr>
          <p:nvPr>
            <p:ph type="subTitle" idx="1"/>
          </p:nvPr>
        </p:nvSpPr>
        <p:spPr/>
        <p:txBody>
          <a:bodyPr>
            <a:normAutofit fontScale="92500" lnSpcReduction="20000"/>
          </a:bodyPr>
          <a:lstStyle/>
          <a:p>
            <a:endParaRPr lang="en-IN" dirty="0"/>
          </a:p>
          <a:p>
            <a:endParaRPr lang="en-IN" dirty="0"/>
          </a:p>
          <a:p>
            <a:r>
              <a:rPr lang="en-IN" dirty="0"/>
              <a:t>-</a:t>
            </a:r>
            <a:r>
              <a:rPr lang="en-IN" sz="2400" dirty="0"/>
              <a:t>Romen Halder</a:t>
            </a:r>
          </a:p>
        </p:txBody>
      </p:sp>
    </p:spTree>
    <p:extLst>
      <p:ext uri="{BB962C8B-B14F-4D97-AF65-F5344CB8AC3E}">
        <p14:creationId xmlns:p14="http://schemas.microsoft.com/office/powerpoint/2010/main" val="1954087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2CE21-A938-8DDA-E87A-4DD94AA76691}"/>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F8B5980E-872B-DF2B-B1BB-ED534F74DE0F}"/>
              </a:ext>
            </a:extLst>
          </p:cNvPr>
          <p:cNvSpPr>
            <a:spLocks noGrp="1"/>
          </p:cNvSpPr>
          <p:nvPr>
            <p:ph idx="1"/>
          </p:nvPr>
        </p:nvSpPr>
        <p:spPr>
          <a:xfrm>
            <a:off x="574593" y="1585236"/>
            <a:ext cx="8596668" cy="3880773"/>
          </a:xfrm>
          <a:solidFill>
            <a:schemeClr val="accent3">
              <a:lumMod val="20000"/>
              <a:lumOff val="80000"/>
            </a:schemeClr>
          </a:solidFill>
        </p:spPr>
        <p:txBody>
          <a:bodyPr>
            <a:normAutofit fontScale="92500" lnSpcReduction="10000"/>
          </a:bodyPr>
          <a:lstStyle/>
          <a:p>
            <a:r>
              <a:rPr lang="en-US" sz="2400" dirty="0"/>
              <a:t>Small businesses struggle to manage stock accurately, leading to overstocking, stockouts, and manual calculation errors.</a:t>
            </a:r>
          </a:p>
          <a:p>
            <a:endParaRPr lang="en-US" sz="2400" dirty="0"/>
          </a:p>
          <a:p>
            <a:r>
              <a:rPr lang="en-US" sz="2400" dirty="0"/>
              <a:t>They often face difficulties in tracking product movements, managing users securely, and maintaining proper purchase and sales records</a:t>
            </a:r>
          </a:p>
          <a:p>
            <a:endParaRPr lang="en-US" sz="2400" dirty="0"/>
          </a:p>
          <a:p>
            <a:r>
              <a:rPr lang="en-US" sz="2400" dirty="0"/>
              <a:t>Generating accurate reports for audits, business decisions, and financial planning becomes time-consuming and inefficient without a digital system.</a:t>
            </a:r>
            <a:endParaRPr lang="en-IN" sz="2400" dirty="0"/>
          </a:p>
        </p:txBody>
      </p:sp>
    </p:spTree>
    <p:extLst>
      <p:ext uri="{BB962C8B-B14F-4D97-AF65-F5344CB8AC3E}">
        <p14:creationId xmlns:p14="http://schemas.microsoft.com/office/powerpoint/2010/main" val="3361719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5EC7D-7189-4AE6-659B-EB510D4A3ADB}"/>
              </a:ext>
            </a:extLst>
          </p:cNvPr>
          <p:cNvSpPr>
            <a:spLocks noGrp="1"/>
          </p:cNvSpPr>
          <p:nvPr>
            <p:ph type="title"/>
          </p:nvPr>
        </p:nvSpPr>
        <p:spPr/>
        <p:txBody>
          <a:bodyPr/>
          <a:lstStyle/>
          <a:p>
            <a:r>
              <a:rPr lang="en-IN" dirty="0"/>
              <a:t>Existing Problem</a:t>
            </a:r>
          </a:p>
        </p:txBody>
      </p:sp>
      <p:sp>
        <p:nvSpPr>
          <p:cNvPr id="3" name="Content Placeholder 2">
            <a:extLst>
              <a:ext uri="{FF2B5EF4-FFF2-40B4-BE49-F238E27FC236}">
                <a16:creationId xmlns:a16="http://schemas.microsoft.com/office/drawing/2014/main" id="{F62377B0-8CAA-08A6-03B7-E9280DBC285A}"/>
              </a:ext>
            </a:extLst>
          </p:cNvPr>
          <p:cNvSpPr>
            <a:spLocks noGrp="1"/>
          </p:cNvSpPr>
          <p:nvPr>
            <p:ph idx="1"/>
          </p:nvPr>
        </p:nvSpPr>
        <p:spPr>
          <a:xfrm>
            <a:off x="677333" y="1759896"/>
            <a:ext cx="9298873" cy="4353227"/>
          </a:xfrm>
          <a:solidFill>
            <a:schemeClr val="accent1">
              <a:lumMod val="20000"/>
              <a:lumOff val="80000"/>
            </a:schemeClr>
          </a:solidFill>
        </p:spPr>
        <p:txBody>
          <a:bodyPr>
            <a:normAutofit/>
          </a:bodyPr>
          <a:lstStyle/>
          <a:p>
            <a:r>
              <a:rPr lang="en-US" sz="2400" dirty="0"/>
              <a:t>Many small businesses still manage inventory manually using registers or Excel sheets, which leads to errors and confusion.</a:t>
            </a:r>
          </a:p>
          <a:p>
            <a:endParaRPr lang="en-US" sz="2400" dirty="0"/>
          </a:p>
          <a:p>
            <a:r>
              <a:rPr lang="en-US" sz="2400" dirty="0"/>
              <a:t>There is no real-time stock tracking, so businesses often face stock shortages or excess inventory.</a:t>
            </a:r>
          </a:p>
          <a:p>
            <a:endParaRPr lang="en-US" sz="2400" dirty="0"/>
          </a:p>
          <a:p>
            <a:r>
              <a:rPr lang="en-US" sz="2400" dirty="0"/>
              <a:t>Lack of proper reporting and user control makes it difficult to monitor sales, purchases, and employee activities efficiently.</a:t>
            </a:r>
            <a:endParaRPr lang="en-IN" sz="2400" dirty="0"/>
          </a:p>
        </p:txBody>
      </p:sp>
    </p:spTree>
    <p:extLst>
      <p:ext uri="{BB962C8B-B14F-4D97-AF65-F5344CB8AC3E}">
        <p14:creationId xmlns:p14="http://schemas.microsoft.com/office/powerpoint/2010/main" val="518934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3690-C4E5-9997-C14C-1F19743224E9}"/>
              </a:ext>
            </a:extLst>
          </p:cNvPr>
          <p:cNvSpPr>
            <a:spLocks noGrp="1"/>
          </p:cNvSpPr>
          <p:nvPr>
            <p:ph type="title"/>
          </p:nvPr>
        </p:nvSpPr>
        <p:spPr/>
        <p:txBody>
          <a:bodyPr/>
          <a:lstStyle/>
          <a:p>
            <a:r>
              <a:rPr lang="en-IN" b="1" dirty="0"/>
              <a:t>Bakery Inventory Management System</a:t>
            </a:r>
          </a:p>
        </p:txBody>
      </p:sp>
      <p:sp>
        <p:nvSpPr>
          <p:cNvPr id="3" name="Content Placeholder 2">
            <a:extLst>
              <a:ext uri="{FF2B5EF4-FFF2-40B4-BE49-F238E27FC236}">
                <a16:creationId xmlns:a16="http://schemas.microsoft.com/office/drawing/2014/main" id="{2D7D3EF2-F2C0-AB33-AABB-5B8C1E7E111E}"/>
              </a:ext>
            </a:extLst>
          </p:cNvPr>
          <p:cNvSpPr>
            <a:spLocks noGrp="1"/>
          </p:cNvSpPr>
          <p:nvPr>
            <p:ph idx="1"/>
          </p:nvPr>
        </p:nvSpPr>
        <p:spPr>
          <a:xfrm>
            <a:off x="677334" y="1473932"/>
            <a:ext cx="9627646" cy="4774468"/>
          </a:xfrm>
        </p:spPr>
        <p:txBody>
          <a:bodyPr>
            <a:normAutofit/>
          </a:bodyPr>
          <a:lstStyle/>
          <a:p>
            <a:r>
              <a:rPr lang="en-US" sz="2000" dirty="0"/>
              <a:t>A comprehensive full-stack inventory management solution designed specifically for bakeries to track products, manage stock levels, monitor expiration dates, and generate alerts for low stock or expiring items.</a:t>
            </a:r>
            <a:endParaRPr lang="en-US" sz="2400" dirty="0"/>
          </a:p>
          <a:p>
            <a:pPr marL="0" indent="0">
              <a:buNone/>
            </a:pPr>
            <a:r>
              <a:rPr lang="en-IN" b="1" dirty="0"/>
              <a:t>Core Features:-</a:t>
            </a:r>
          </a:p>
          <a:p>
            <a:pPr marL="0" indent="0">
              <a:buNone/>
            </a:pPr>
            <a:r>
              <a:rPr lang="en-IN" b="1" dirty="0"/>
              <a:t>	</a:t>
            </a:r>
            <a:r>
              <a:rPr lang="en-IN" sz="2200" b="1" dirty="0"/>
              <a:t>Product Management &amp; Inventory Tracking</a:t>
            </a:r>
            <a:br>
              <a:rPr lang="en-IN" b="1" dirty="0"/>
            </a:br>
            <a:r>
              <a:rPr lang="en-IN" b="1" dirty="0"/>
              <a:t>	</a:t>
            </a:r>
            <a:r>
              <a:rPr lang="en-US" sz="2000" dirty="0"/>
              <a:t>The system allows managing bakery products (finished goods and raw materials), with categories, image upload, stock limits, and expiry tracking.</a:t>
            </a:r>
          </a:p>
          <a:p>
            <a:pPr marL="0" indent="0">
              <a:buNone/>
            </a:pPr>
            <a:r>
              <a:rPr lang="en-US" sz="2000" dirty="0"/>
              <a:t>	</a:t>
            </a:r>
            <a:r>
              <a:rPr lang="en-IN" sz="2200" b="1" dirty="0"/>
              <a:t>Smart Alert System</a:t>
            </a:r>
            <a:r>
              <a:rPr lang="en-IN" sz="2400" b="1" dirty="0"/>
              <a:t>:</a:t>
            </a:r>
            <a:endParaRPr lang="en-IN" b="1" dirty="0"/>
          </a:p>
          <a:p>
            <a:pPr marL="0" indent="0">
              <a:buNone/>
            </a:pPr>
            <a:r>
              <a:rPr lang="en-IN" sz="2000" b="1" dirty="0"/>
              <a:t>	</a:t>
            </a:r>
            <a:r>
              <a:rPr lang="en-US" sz="2000" dirty="0"/>
              <a:t>The system includes a smart alert system that automatically sends notifications for low stock, out-of-stock items, reorder points, expiring products (within 7 days), and expired products.</a:t>
            </a:r>
            <a:endParaRPr lang="en-IN" sz="2000" dirty="0"/>
          </a:p>
        </p:txBody>
      </p:sp>
    </p:spTree>
    <p:extLst>
      <p:ext uri="{BB962C8B-B14F-4D97-AF65-F5344CB8AC3E}">
        <p14:creationId xmlns:p14="http://schemas.microsoft.com/office/powerpoint/2010/main" val="1154430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B3B9F9-9812-711D-7756-7C1D1728A665}"/>
              </a:ext>
            </a:extLst>
          </p:cNvPr>
          <p:cNvSpPr txBox="1"/>
          <p:nvPr/>
        </p:nvSpPr>
        <p:spPr>
          <a:xfrm>
            <a:off x="1078786" y="1936283"/>
            <a:ext cx="8054938" cy="2985433"/>
          </a:xfrm>
          <a:prstGeom prst="rect">
            <a:avLst/>
          </a:prstGeom>
          <a:noFill/>
        </p:spPr>
        <p:txBody>
          <a:bodyPr wrap="square">
            <a:spAutoFit/>
          </a:bodyPr>
          <a:lstStyle/>
          <a:p>
            <a:pPr>
              <a:buNone/>
            </a:pPr>
            <a:r>
              <a:rPr lang="en-US" sz="2400" b="1" dirty="0"/>
              <a:t>User Management:</a:t>
            </a:r>
            <a:br>
              <a:rPr lang="en-US" sz="2400" dirty="0"/>
            </a:br>
            <a:r>
              <a:rPr lang="en-US" sz="2000" dirty="0"/>
              <a:t>The system provides role-based access control with Admin and Employee roles, secure JWT authentication, OTP verification, and password reset functionality.</a:t>
            </a:r>
          </a:p>
          <a:p>
            <a:pPr>
              <a:buNone/>
            </a:pPr>
            <a:endParaRPr lang="en-US" sz="2000" dirty="0"/>
          </a:p>
          <a:p>
            <a:pPr>
              <a:buNone/>
            </a:pPr>
            <a:endParaRPr lang="en-US" sz="2000" dirty="0"/>
          </a:p>
          <a:p>
            <a:pPr>
              <a:buNone/>
            </a:pPr>
            <a:r>
              <a:rPr lang="en-US" sz="2400" b="1" dirty="0"/>
              <a:t>Reporting &amp; Analytics:</a:t>
            </a:r>
            <a:br>
              <a:rPr lang="en-US" sz="2400" dirty="0"/>
            </a:br>
            <a:r>
              <a:rPr lang="en-US" sz="2000" dirty="0"/>
              <a:t>It generates stock reports, transaction history, low stock summaries, and tracks user activities for better business monitoring.</a:t>
            </a:r>
            <a:endParaRPr lang="en-US" sz="2400" dirty="0"/>
          </a:p>
        </p:txBody>
      </p:sp>
    </p:spTree>
    <p:extLst>
      <p:ext uri="{BB962C8B-B14F-4D97-AF65-F5344CB8AC3E}">
        <p14:creationId xmlns:p14="http://schemas.microsoft.com/office/powerpoint/2010/main" val="1213709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7D16D-BFEB-4EB3-B6F9-061307B409C4}"/>
              </a:ext>
            </a:extLst>
          </p:cNvPr>
          <p:cNvSpPr>
            <a:spLocks noGrp="1"/>
          </p:cNvSpPr>
          <p:nvPr>
            <p:ph type="title"/>
          </p:nvPr>
        </p:nvSpPr>
        <p:spPr>
          <a:xfrm>
            <a:off x="677334" y="410966"/>
            <a:ext cx="8596668" cy="1047964"/>
          </a:xfrm>
        </p:spPr>
        <p:txBody>
          <a:bodyPr>
            <a:normAutofit fontScale="90000"/>
          </a:bodyPr>
          <a:lstStyle/>
          <a:p>
            <a:pPr algn="ctr"/>
            <a:r>
              <a:rPr lang="en-IN" b="1" dirty="0"/>
              <a:t>Tech Stack</a:t>
            </a:r>
            <a:br>
              <a:rPr lang="en-IN" b="1" dirty="0"/>
            </a:br>
            <a:endParaRPr lang="en-IN" dirty="0"/>
          </a:p>
        </p:txBody>
      </p:sp>
      <p:sp>
        <p:nvSpPr>
          <p:cNvPr id="3" name="TextBox 2">
            <a:extLst>
              <a:ext uri="{FF2B5EF4-FFF2-40B4-BE49-F238E27FC236}">
                <a16:creationId xmlns:a16="http://schemas.microsoft.com/office/drawing/2014/main" id="{9557C2CB-27CA-CF07-6988-A845A433F954}"/>
              </a:ext>
            </a:extLst>
          </p:cNvPr>
          <p:cNvSpPr txBox="1"/>
          <p:nvPr/>
        </p:nvSpPr>
        <p:spPr>
          <a:xfrm>
            <a:off x="821933" y="1276388"/>
            <a:ext cx="4685015" cy="4801314"/>
          </a:xfrm>
          <a:prstGeom prst="rect">
            <a:avLst/>
          </a:prstGeom>
          <a:solidFill>
            <a:schemeClr val="tx2">
              <a:lumMod val="20000"/>
              <a:lumOff val="80000"/>
            </a:schemeClr>
          </a:solidFill>
        </p:spPr>
        <p:txBody>
          <a:bodyPr wrap="square" rtlCol="0">
            <a:spAutoFit/>
          </a:bodyPr>
          <a:lstStyle/>
          <a:p>
            <a:r>
              <a:rPr lang="en-IN" sz="2400" b="1" dirty="0"/>
              <a:t>Backend:-</a:t>
            </a:r>
          </a:p>
          <a:p>
            <a:r>
              <a:rPr lang="en-IN" sz="2400" b="1" dirty="0"/>
              <a:t>Framework</a:t>
            </a:r>
            <a:r>
              <a:rPr lang="en-IN" sz="2400" dirty="0"/>
              <a:t>: Spring Boot 3.1.6</a:t>
            </a:r>
          </a:p>
          <a:p>
            <a:r>
              <a:rPr lang="en-IN" sz="2400" b="1" dirty="0"/>
              <a:t>Language</a:t>
            </a:r>
            <a:r>
              <a:rPr lang="en-IN" sz="2400" dirty="0"/>
              <a:t>: Java 17</a:t>
            </a:r>
          </a:p>
          <a:p>
            <a:r>
              <a:rPr lang="en-IN" sz="2400" b="1" dirty="0"/>
              <a:t>Security</a:t>
            </a:r>
            <a:r>
              <a:rPr lang="en-IN" sz="2400" dirty="0"/>
              <a:t>: Spring Security with JWT</a:t>
            </a:r>
          </a:p>
          <a:p>
            <a:r>
              <a:rPr lang="en-IN" sz="2400" b="1" dirty="0"/>
              <a:t>Database</a:t>
            </a:r>
            <a:r>
              <a:rPr lang="en-IN" sz="2400" dirty="0"/>
              <a:t>: MySQL 8.0</a:t>
            </a:r>
          </a:p>
          <a:p>
            <a:r>
              <a:rPr lang="en-IN" sz="2400" b="1" dirty="0"/>
              <a:t>ORM</a:t>
            </a:r>
            <a:r>
              <a:rPr lang="en-IN" sz="2400" dirty="0"/>
              <a:t>: Hibernate / JPA</a:t>
            </a:r>
          </a:p>
          <a:p>
            <a:r>
              <a:rPr lang="en-IN" sz="2400" b="1" dirty="0"/>
              <a:t>Build Tool</a:t>
            </a:r>
            <a:r>
              <a:rPr lang="en-IN" sz="2400" dirty="0"/>
              <a:t>: Maven</a:t>
            </a:r>
          </a:p>
          <a:p>
            <a:r>
              <a:rPr lang="en-IN" sz="2400" b="1" dirty="0"/>
              <a:t>Additional Libraries</a:t>
            </a:r>
            <a:r>
              <a:rPr lang="en-IN" sz="2400" dirty="0"/>
              <a:t>:</a:t>
            </a:r>
          </a:p>
          <a:p>
            <a:pPr lvl="1"/>
            <a:r>
              <a:rPr lang="en-IN" sz="2400" dirty="0"/>
              <a:t>Lombok </a:t>
            </a:r>
          </a:p>
          <a:p>
            <a:pPr lvl="1"/>
            <a:r>
              <a:rPr lang="en-IN" sz="2400" dirty="0"/>
              <a:t>JJWT </a:t>
            </a:r>
          </a:p>
          <a:p>
            <a:pPr lvl="1"/>
            <a:r>
              <a:rPr lang="en-IN" sz="2400" dirty="0"/>
              <a:t>Jakarta Validation</a:t>
            </a:r>
          </a:p>
          <a:p>
            <a:endParaRPr lang="en-IN" dirty="0"/>
          </a:p>
        </p:txBody>
      </p:sp>
      <p:sp>
        <p:nvSpPr>
          <p:cNvPr id="5" name="TextBox 4">
            <a:extLst>
              <a:ext uri="{FF2B5EF4-FFF2-40B4-BE49-F238E27FC236}">
                <a16:creationId xmlns:a16="http://schemas.microsoft.com/office/drawing/2014/main" id="{AA3D9D09-83EF-D312-D20B-B38F6BE2A760}"/>
              </a:ext>
            </a:extLst>
          </p:cNvPr>
          <p:cNvSpPr txBox="1"/>
          <p:nvPr/>
        </p:nvSpPr>
        <p:spPr>
          <a:xfrm>
            <a:off x="5744014" y="1276388"/>
            <a:ext cx="3985613" cy="2923877"/>
          </a:xfrm>
          <a:prstGeom prst="rect">
            <a:avLst/>
          </a:prstGeom>
          <a:solidFill>
            <a:srgbClr val="E6E6E6"/>
          </a:solidFill>
        </p:spPr>
        <p:txBody>
          <a:bodyPr wrap="square">
            <a:spAutoFit/>
          </a:bodyPr>
          <a:lstStyle/>
          <a:p>
            <a:pPr>
              <a:spcBef>
                <a:spcPts val="1800"/>
              </a:spcBef>
              <a:spcAft>
                <a:spcPts val="1200"/>
              </a:spcAft>
              <a:buNone/>
            </a:pPr>
            <a:r>
              <a:rPr lang="en-IN" sz="2400" b="1" dirty="0"/>
              <a:t>Frontend:-</a:t>
            </a:r>
          </a:p>
          <a:p>
            <a:pPr>
              <a:spcAft>
                <a:spcPts val="1200"/>
              </a:spcAft>
            </a:pPr>
            <a:r>
              <a:rPr lang="en-IN" sz="2400" b="1" dirty="0"/>
              <a:t>Framework: </a:t>
            </a:r>
            <a:r>
              <a:rPr lang="en-IN" sz="2400" dirty="0"/>
              <a:t>React 19</a:t>
            </a:r>
          </a:p>
          <a:p>
            <a:pPr>
              <a:spcAft>
                <a:spcPts val="1200"/>
              </a:spcAft>
            </a:pPr>
            <a:r>
              <a:rPr lang="en-IN" sz="2400" b="1" dirty="0"/>
              <a:t>Build Tool: </a:t>
            </a:r>
            <a:r>
              <a:rPr lang="en-IN" sz="2400" dirty="0"/>
              <a:t>Vite</a:t>
            </a:r>
          </a:p>
          <a:p>
            <a:pPr>
              <a:spcAft>
                <a:spcPts val="1200"/>
              </a:spcAft>
            </a:pPr>
            <a:r>
              <a:rPr lang="en-IN" sz="2400" b="1" dirty="0"/>
              <a:t>State Management: </a:t>
            </a:r>
            <a:r>
              <a:rPr lang="en-IN" sz="2400" dirty="0"/>
              <a:t>Redux Toolkit</a:t>
            </a:r>
          </a:p>
          <a:p>
            <a:pPr>
              <a:spcAft>
                <a:spcPts val="1200"/>
              </a:spcAft>
            </a:pPr>
            <a:r>
              <a:rPr lang="en-IN" sz="2400" b="1" dirty="0"/>
              <a:t>Styling: </a:t>
            </a:r>
            <a:r>
              <a:rPr lang="en-IN" sz="2400" dirty="0"/>
              <a:t>Tailwind CSS 4</a:t>
            </a:r>
          </a:p>
        </p:txBody>
      </p:sp>
    </p:spTree>
    <p:extLst>
      <p:ext uri="{BB962C8B-B14F-4D97-AF65-F5344CB8AC3E}">
        <p14:creationId xmlns:p14="http://schemas.microsoft.com/office/powerpoint/2010/main" val="803158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97ED-5263-C3EE-ECAC-DC44F6873172}"/>
              </a:ext>
            </a:extLst>
          </p:cNvPr>
          <p:cNvSpPr>
            <a:spLocks noGrp="1"/>
          </p:cNvSpPr>
          <p:nvPr>
            <p:ph type="title"/>
          </p:nvPr>
        </p:nvSpPr>
        <p:spPr>
          <a:xfrm>
            <a:off x="656785" y="333910"/>
            <a:ext cx="8596668" cy="970908"/>
          </a:xfrm>
        </p:spPr>
        <p:txBody>
          <a:bodyPr>
            <a:normAutofit fontScale="90000"/>
          </a:bodyPr>
          <a:lstStyle/>
          <a:p>
            <a:r>
              <a:rPr lang="en-IN" b="1" dirty="0"/>
              <a:t>Project Structure</a:t>
            </a:r>
            <a:br>
              <a:rPr lang="en-IN" b="1" dirty="0"/>
            </a:br>
            <a:endParaRPr lang="en-IN" dirty="0"/>
          </a:p>
        </p:txBody>
      </p:sp>
      <p:pic>
        <p:nvPicPr>
          <p:cNvPr id="6" name="Picture 5">
            <a:extLst>
              <a:ext uri="{FF2B5EF4-FFF2-40B4-BE49-F238E27FC236}">
                <a16:creationId xmlns:a16="http://schemas.microsoft.com/office/drawing/2014/main" id="{429C4000-F368-FDE6-9B84-B30A97CD85B1}"/>
              </a:ext>
            </a:extLst>
          </p:cNvPr>
          <p:cNvPicPr>
            <a:picLocks noChangeAspect="1"/>
          </p:cNvPicPr>
          <p:nvPr/>
        </p:nvPicPr>
        <p:blipFill>
          <a:blip r:embed="rId2"/>
          <a:stretch>
            <a:fillRect/>
          </a:stretch>
        </p:blipFill>
        <p:spPr>
          <a:xfrm>
            <a:off x="514771" y="1304818"/>
            <a:ext cx="5105193" cy="4963517"/>
          </a:xfrm>
          <a:prstGeom prst="rect">
            <a:avLst/>
          </a:prstGeom>
        </p:spPr>
      </p:pic>
      <p:pic>
        <p:nvPicPr>
          <p:cNvPr id="8" name="Picture 7">
            <a:extLst>
              <a:ext uri="{FF2B5EF4-FFF2-40B4-BE49-F238E27FC236}">
                <a16:creationId xmlns:a16="http://schemas.microsoft.com/office/drawing/2014/main" id="{532F1F38-8F0D-709F-E64A-16ABF8799A95}"/>
              </a:ext>
            </a:extLst>
          </p:cNvPr>
          <p:cNvPicPr>
            <a:picLocks noChangeAspect="1"/>
          </p:cNvPicPr>
          <p:nvPr/>
        </p:nvPicPr>
        <p:blipFill>
          <a:blip r:embed="rId3"/>
          <a:stretch>
            <a:fillRect/>
          </a:stretch>
        </p:blipFill>
        <p:spPr>
          <a:xfrm>
            <a:off x="5761978" y="1304818"/>
            <a:ext cx="5494183" cy="5029575"/>
          </a:xfrm>
          <a:prstGeom prst="rect">
            <a:avLst/>
          </a:prstGeom>
        </p:spPr>
      </p:pic>
      <p:sp>
        <p:nvSpPr>
          <p:cNvPr id="9" name="TextBox 8">
            <a:extLst>
              <a:ext uri="{FF2B5EF4-FFF2-40B4-BE49-F238E27FC236}">
                <a16:creationId xmlns:a16="http://schemas.microsoft.com/office/drawing/2014/main" id="{211C74D2-0795-FFC6-0690-7098A9FDB4B6}"/>
              </a:ext>
            </a:extLst>
          </p:cNvPr>
          <p:cNvSpPr txBox="1"/>
          <p:nvPr/>
        </p:nvSpPr>
        <p:spPr>
          <a:xfrm>
            <a:off x="656785" y="965771"/>
            <a:ext cx="1860384" cy="400110"/>
          </a:xfrm>
          <a:prstGeom prst="rect">
            <a:avLst/>
          </a:prstGeom>
          <a:noFill/>
        </p:spPr>
        <p:txBody>
          <a:bodyPr wrap="square" rtlCol="0">
            <a:spAutoFit/>
          </a:bodyPr>
          <a:lstStyle/>
          <a:p>
            <a:r>
              <a:rPr lang="en-IN" sz="2000" b="1" dirty="0"/>
              <a:t>Backend </a:t>
            </a:r>
          </a:p>
        </p:txBody>
      </p:sp>
      <p:sp>
        <p:nvSpPr>
          <p:cNvPr id="10" name="TextBox 9">
            <a:extLst>
              <a:ext uri="{FF2B5EF4-FFF2-40B4-BE49-F238E27FC236}">
                <a16:creationId xmlns:a16="http://schemas.microsoft.com/office/drawing/2014/main" id="{21B23A04-7BA1-843B-66EF-409DBDDD4CD7}"/>
              </a:ext>
            </a:extLst>
          </p:cNvPr>
          <p:cNvSpPr txBox="1"/>
          <p:nvPr/>
        </p:nvSpPr>
        <p:spPr>
          <a:xfrm>
            <a:off x="5916538" y="955765"/>
            <a:ext cx="1178528" cy="369332"/>
          </a:xfrm>
          <a:prstGeom prst="rect">
            <a:avLst/>
          </a:prstGeom>
          <a:noFill/>
        </p:spPr>
        <p:txBody>
          <a:bodyPr wrap="none" rtlCol="0">
            <a:spAutoFit/>
          </a:bodyPr>
          <a:lstStyle/>
          <a:p>
            <a:r>
              <a:rPr lang="en-IN" b="1" dirty="0" err="1"/>
              <a:t>FrontEnd</a:t>
            </a:r>
            <a:endParaRPr lang="en-IN" b="1" dirty="0"/>
          </a:p>
        </p:txBody>
      </p:sp>
    </p:spTree>
    <p:extLst>
      <p:ext uri="{BB962C8B-B14F-4D97-AF65-F5344CB8AC3E}">
        <p14:creationId xmlns:p14="http://schemas.microsoft.com/office/powerpoint/2010/main" val="3745134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A55F4-F00E-A7FD-6370-02B5DB6168A8}"/>
              </a:ext>
            </a:extLst>
          </p:cNvPr>
          <p:cNvSpPr>
            <a:spLocks noGrp="1"/>
          </p:cNvSpPr>
          <p:nvPr>
            <p:ph type="title"/>
          </p:nvPr>
        </p:nvSpPr>
        <p:spPr/>
        <p:txBody>
          <a:bodyPr/>
          <a:lstStyle/>
          <a:p>
            <a:r>
              <a:rPr lang="en-IN" dirty="0"/>
              <a:t>Module 1: User Authentication &amp; Role Management</a:t>
            </a:r>
          </a:p>
        </p:txBody>
      </p:sp>
      <p:sp>
        <p:nvSpPr>
          <p:cNvPr id="4" name="TextBox 3">
            <a:extLst>
              <a:ext uri="{FF2B5EF4-FFF2-40B4-BE49-F238E27FC236}">
                <a16:creationId xmlns:a16="http://schemas.microsoft.com/office/drawing/2014/main" id="{CCEFD71E-8708-6E50-CBB5-6ADF5210157F}"/>
              </a:ext>
            </a:extLst>
          </p:cNvPr>
          <p:cNvSpPr txBox="1"/>
          <p:nvPr/>
        </p:nvSpPr>
        <p:spPr>
          <a:xfrm>
            <a:off x="852755" y="2021497"/>
            <a:ext cx="8596668" cy="3970318"/>
          </a:xfrm>
          <a:prstGeom prst="rect">
            <a:avLst/>
          </a:prstGeom>
          <a:solidFill>
            <a:schemeClr val="bg2"/>
          </a:solidFill>
        </p:spPr>
        <p:txBody>
          <a:bodyPr wrap="square">
            <a:spAutoFit/>
          </a:bodyPr>
          <a:lstStyle/>
          <a:p>
            <a:pPr>
              <a:buNone/>
            </a:pPr>
            <a:r>
              <a:rPr lang="en-US" sz="2100" dirty="0"/>
              <a:t>This module manages secure login and role-based access control in the system.</a:t>
            </a:r>
          </a:p>
          <a:p>
            <a:pPr>
              <a:buNone/>
            </a:pPr>
            <a:endParaRPr lang="en-US" sz="2100" dirty="0"/>
          </a:p>
          <a:p>
            <a:pPr>
              <a:buFont typeface="Arial" panose="020B0604020202020204" pitchFamily="34" charset="0"/>
              <a:buChar char="•"/>
            </a:pPr>
            <a:r>
              <a:rPr lang="en-US" sz="2100" b="1" dirty="0"/>
              <a:t>Admin Control:</a:t>
            </a:r>
            <a:r>
              <a:rPr lang="en-US" sz="2100" dirty="0"/>
              <a:t> Admin can create new users and activate or deactivate accounts. If a user is marked as </a:t>
            </a:r>
            <a:r>
              <a:rPr lang="en-US" sz="2100" i="1" dirty="0"/>
              <a:t>inactive</a:t>
            </a:r>
            <a:r>
              <a:rPr lang="en-US" sz="2100" dirty="0"/>
              <a:t>, they cannot log in until reactivated by the admin.</a:t>
            </a:r>
          </a:p>
          <a:p>
            <a:pPr>
              <a:buFont typeface="Arial" panose="020B0604020202020204" pitchFamily="34" charset="0"/>
              <a:buChar char="•"/>
            </a:pPr>
            <a:endParaRPr lang="en-US" sz="2100" dirty="0"/>
          </a:p>
          <a:p>
            <a:pPr>
              <a:buFont typeface="Arial" panose="020B0604020202020204" pitchFamily="34" charset="0"/>
              <a:buChar char="•"/>
            </a:pPr>
            <a:r>
              <a:rPr lang="en-US" sz="2100" b="1" dirty="0"/>
              <a:t>Role-Based Access:</a:t>
            </a:r>
            <a:r>
              <a:rPr lang="en-US" sz="2100" dirty="0"/>
              <a:t> Admin has full system control, while Employees have limited permissions based on their role.</a:t>
            </a:r>
          </a:p>
          <a:p>
            <a:pPr>
              <a:buFont typeface="Arial" panose="020B0604020202020204" pitchFamily="34" charset="0"/>
              <a:buChar char="•"/>
            </a:pPr>
            <a:endParaRPr lang="en-US" sz="2100" dirty="0"/>
          </a:p>
          <a:p>
            <a:pPr>
              <a:buFont typeface="Arial" panose="020B0604020202020204" pitchFamily="34" charset="0"/>
              <a:buChar char="•"/>
            </a:pPr>
            <a:r>
              <a:rPr lang="en-US" sz="2100" b="1" dirty="0"/>
              <a:t>Security Features:</a:t>
            </a:r>
            <a:r>
              <a:rPr lang="en-US" sz="2100" dirty="0"/>
              <a:t> Secure login with JWT authentication and password encryption to prevent unauthorized access.</a:t>
            </a:r>
          </a:p>
        </p:txBody>
      </p:sp>
    </p:spTree>
    <p:extLst>
      <p:ext uri="{BB962C8B-B14F-4D97-AF65-F5344CB8AC3E}">
        <p14:creationId xmlns:p14="http://schemas.microsoft.com/office/powerpoint/2010/main" val="343642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5F743-2CDA-0836-732B-8461E936B7CF}"/>
              </a:ext>
            </a:extLst>
          </p:cNvPr>
          <p:cNvSpPr>
            <a:spLocks noGrp="1"/>
          </p:cNvSpPr>
          <p:nvPr>
            <p:ph type="title"/>
          </p:nvPr>
        </p:nvSpPr>
        <p:spPr>
          <a:xfrm>
            <a:off x="677334" y="260278"/>
            <a:ext cx="3648086" cy="726040"/>
          </a:xfrm>
        </p:spPr>
        <p:txBody>
          <a:bodyPr/>
          <a:lstStyle/>
          <a:p>
            <a:r>
              <a:rPr lang="en-IN" dirty="0"/>
              <a:t>Pseudocode</a:t>
            </a:r>
          </a:p>
        </p:txBody>
      </p:sp>
      <p:sp>
        <p:nvSpPr>
          <p:cNvPr id="4" name="TextBox 3">
            <a:extLst>
              <a:ext uri="{FF2B5EF4-FFF2-40B4-BE49-F238E27FC236}">
                <a16:creationId xmlns:a16="http://schemas.microsoft.com/office/drawing/2014/main" id="{D09E0527-DDB2-E4CA-C127-BD91B474B6DD}"/>
              </a:ext>
            </a:extLst>
          </p:cNvPr>
          <p:cNvSpPr txBox="1"/>
          <p:nvPr/>
        </p:nvSpPr>
        <p:spPr>
          <a:xfrm>
            <a:off x="462338" y="1088912"/>
            <a:ext cx="4808305" cy="2643224"/>
          </a:xfrm>
          <a:prstGeom prst="rect">
            <a:avLst/>
          </a:prstGeom>
          <a:solidFill>
            <a:schemeClr val="bg2"/>
          </a:solidFill>
        </p:spPr>
        <p:txBody>
          <a:bodyPr wrap="square">
            <a:spAutoFit/>
          </a:bodyPr>
          <a:lstStyle/>
          <a:p>
            <a:pPr>
              <a:lnSpc>
                <a:spcPct val="107000"/>
              </a:lnSpc>
              <a:spcAft>
                <a:spcPts val="800"/>
              </a:spcAft>
              <a:buNone/>
            </a:pPr>
            <a:r>
              <a:rPr lang="en-IN" sz="1400" b="1" kern="0" dirty="0" err="1">
                <a:effectLst/>
                <a:latin typeface="Times New Roman" panose="02020603050405020304" pitchFamily="18" charset="0"/>
                <a:ea typeface="Times New Roman" panose="02020603050405020304" pitchFamily="18" charset="0"/>
                <a:cs typeface="Latha" panose="020B0502040204020203" pitchFamily="34" charset="0"/>
              </a:rPr>
              <a:t>AuthController</a:t>
            </a:r>
            <a:r>
              <a:rPr lang="en-IN" sz="1400" b="1" kern="0" dirty="0">
                <a:effectLst/>
                <a:latin typeface="Times New Roman" panose="02020603050405020304" pitchFamily="18" charset="0"/>
                <a:ea typeface="Times New Roman" panose="02020603050405020304" pitchFamily="18" charset="0"/>
                <a:cs typeface="Latha" panose="020B0502040204020203" pitchFamily="34" charset="0"/>
              </a:rPr>
              <a:t> – Signup</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CLASS </a:t>
            </a:r>
            <a:r>
              <a:rPr lang="en-IN" sz="1400" kern="0" dirty="0" err="1">
                <a:effectLst/>
                <a:latin typeface="Times New Roman" panose="02020603050405020304" pitchFamily="18" charset="0"/>
                <a:ea typeface="Times New Roman" panose="02020603050405020304" pitchFamily="18" charset="0"/>
                <a:cs typeface="Latha" panose="020B0502040204020203" pitchFamily="34" charset="0"/>
              </a:rPr>
              <a:t>AuthController</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FUNCTION signup(request)</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a:t>
            </a:r>
            <a:r>
              <a:rPr lang="en-IN" sz="1400" kern="0" dirty="0" err="1">
                <a:effectLst/>
                <a:latin typeface="Times New Roman" panose="02020603050405020304" pitchFamily="18" charset="0"/>
                <a:ea typeface="Times New Roman" panose="02020603050405020304" pitchFamily="18" charset="0"/>
                <a:cs typeface="Latha" panose="020B0502040204020203" pitchFamily="34" charset="0"/>
              </a:rPr>
              <a:t>userDetails</a:t>
            </a: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 request data</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result = </a:t>
            </a:r>
            <a:r>
              <a:rPr lang="en-IN" sz="1400" kern="0" dirty="0" err="1">
                <a:effectLst/>
                <a:latin typeface="Times New Roman" panose="02020603050405020304" pitchFamily="18" charset="0"/>
                <a:ea typeface="Times New Roman" panose="02020603050405020304" pitchFamily="18" charset="0"/>
                <a:cs typeface="Latha" panose="020B0502040204020203" pitchFamily="34" charset="0"/>
              </a:rPr>
              <a:t>AuthService.registerUser</a:t>
            </a: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a:t>
            </a:r>
            <a:r>
              <a:rPr lang="en-IN" sz="1400" kern="0" dirty="0" err="1">
                <a:effectLst/>
                <a:latin typeface="Times New Roman" panose="02020603050405020304" pitchFamily="18" charset="0"/>
                <a:ea typeface="Times New Roman" panose="02020603050405020304" pitchFamily="18" charset="0"/>
                <a:cs typeface="Latha" panose="020B0502040204020203" pitchFamily="34" charset="0"/>
              </a:rPr>
              <a:t>userDetails</a:t>
            </a: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RETURN result</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    END FUNCTION</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502040204020203" pitchFamily="34" charset="0"/>
              </a:rPr>
              <a:t>END CLASS</a:t>
            </a:r>
            <a:endParaRPr lang="en-IN" sz="1200" kern="100" dirty="0">
              <a:effectLst/>
              <a:latin typeface="Calibri" panose="020F0502020204030204" pitchFamily="34" charset="0"/>
              <a:ea typeface="Calibri" panose="020F0502020204030204" pitchFamily="34" charset="0"/>
              <a:cs typeface="Latha" panose="020B0502040204020203" pitchFamily="34" charset="0"/>
            </a:endParaRPr>
          </a:p>
        </p:txBody>
      </p:sp>
      <p:sp>
        <p:nvSpPr>
          <p:cNvPr id="8" name="TextBox 7">
            <a:extLst>
              <a:ext uri="{FF2B5EF4-FFF2-40B4-BE49-F238E27FC236}">
                <a16:creationId xmlns:a16="http://schemas.microsoft.com/office/drawing/2014/main" id="{95212397-911B-D258-234C-0ADBB69AC50B}"/>
              </a:ext>
            </a:extLst>
          </p:cNvPr>
          <p:cNvSpPr txBox="1"/>
          <p:nvPr/>
        </p:nvSpPr>
        <p:spPr>
          <a:xfrm>
            <a:off x="6319371" y="1088912"/>
            <a:ext cx="4287745" cy="5281254"/>
          </a:xfrm>
          <a:prstGeom prst="rect">
            <a:avLst/>
          </a:prstGeom>
          <a:solidFill>
            <a:schemeClr val="accent2">
              <a:lumMod val="20000"/>
              <a:lumOff val="80000"/>
            </a:schemeClr>
          </a:solidFill>
        </p:spPr>
        <p:txBody>
          <a:bodyPr wrap="square">
            <a:spAutoFit/>
          </a:bodyPr>
          <a:lstStyle/>
          <a:p>
            <a:pPr>
              <a:lnSpc>
                <a:spcPct val="107000"/>
              </a:lnSpc>
              <a:spcAft>
                <a:spcPts val="800"/>
              </a:spcAft>
              <a:buNone/>
            </a:pPr>
            <a:r>
              <a:rPr lang="en-IN" sz="1200" b="1" kern="0" dirty="0" err="1">
                <a:effectLst/>
                <a:latin typeface="Times New Roman" panose="02020603050405020304" pitchFamily="18" charset="0"/>
                <a:ea typeface="Times New Roman" panose="02020603050405020304" pitchFamily="18" charset="0"/>
                <a:cs typeface="Latha" panose="020B0604020202020204" pitchFamily="34" charset="0"/>
              </a:rPr>
              <a:t>AuthService</a:t>
            </a:r>
            <a:r>
              <a:rPr lang="en-IN" sz="1200" b="1" kern="0" dirty="0">
                <a:effectLst/>
                <a:latin typeface="Times New Roman" panose="02020603050405020304" pitchFamily="18" charset="0"/>
                <a:ea typeface="Times New Roman" panose="02020603050405020304" pitchFamily="18" charset="0"/>
                <a:cs typeface="Latha" panose="020B0604020202020204" pitchFamily="34" charset="0"/>
              </a:rPr>
              <a:t> – Signup Logic</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CLASS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AuthService</a:t>
            </a:r>
            <a:endParaRPr lang="en-IN" sz="1200" kern="0" dirty="0">
              <a:effectLst/>
              <a:latin typeface="Times New Roman" panose="02020603050405020304" pitchFamily="18" charset="0"/>
              <a:ea typeface="Times New Roman" panose="02020603050405020304" pitchFamily="18"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FUNCTION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registerUser</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existingUser</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UserRepository.findByUsername</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userDetails.username</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IF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existingUser</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exists THEN</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RETURN "User already exists"</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END IF</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encryptedPassword</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encrypt(</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userDetails.password</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create User</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newUser.username</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userDetails.username</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newUser.password</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encryptedPassword</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newUser.role</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userDetails.role</a:t>
            </a:r>
            <a:endParaRPr lang="en-IN" sz="11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newUser.email</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userDetails.email</a:t>
            </a:r>
            <a:endParaRPr lang="en-IN" sz="1200" kern="0" dirty="0">
              <a:effectLst/>
              <a:latin typeface="Times New Roman" panose="02020603050405020304" pitchFamily="18" charset="0"/>
              <a:ea typeface="Times New Roman" panose="02020603050405020304" pitchFamily="18"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UserRepository.save</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r>
              <a:rPr lang="en-IN" sz="1200" kern="0" dirty="0" err="1">
                <a:effectLst/>
                <a:latin typeface="Times New Roman" panose="02020603050405020304" pitchFamily="18" charset="0"/>
                <a:ea typeface="Times New Roman" panose="02020603050405020304" pitchFamily="18" charset="0"/>
                <a:cs typeface="Latha" panose="020B0604020202020204" pitchFamily="34" charset="0"/>
              </a:rPr>
              <a:t>newUser</a:t>
            </a: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RETURN "Signup successful“</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    END FUNCTION</a:t>
            </a: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kern="0" dirty="0">
                <a:effectLst/>
                <a:latin typeface="Times New Roman" panose="02020603050405020304" pitchFamily="18" charset="0"/>
                <a:ea typeface="Times New Roman" panose="02020603050405020304" pitchFamily="18" charset="0"/>
                <a:cs typeface="Latha" panose="020B0604020202020204" pitchFamily="34" charset="0"/>
              </a:rPr>
              <a:t>END CLASS</a:t>
            </a:r>
            <a:endParaRPr lang="en-IN" sz="2400" kern="1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9" name="Arrow: Right 8">
            <a:extLst>
              <a:ext uri="{FF2B5EF4-FFF2-40B4-BE49-F238E27FC236}">
                <a16:creationId xmlns:a16="http://schemas.microsoft.com/office/drawing/2014/main" id="{3DECBE90-DF7F-B43A-392C-FD8353199FC7}"/>
              </a:ext>
            </a:extLst>
          </p:cNvPr>
          <p:cNvSpPr/>
          <p:nvPr/>
        </p:nvSpPr>
        <p:spPr>
          <a:xfrm>
            <a:off x="5332288" y="2106202"/>
            <a:ext cx="873303" cy="452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1EC97F3A-4839-B8C5-0A6B-8C77B02ECF6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9974" y="4432344"/>
            <a:ext cx="1789820" cy="2165378"/>
          </a:xfrm>
          <a:prstGeom prst="rect">
            <a:avLst/>
          </a:prstGeom>
        </p:spPr>
      </p:pic>
      <p:sp>
        <p:nvSpPr>
          <p:cNvPr id="12" name="Arrow: Right 11">
            <a:extLst>
              <a:ext uri="{FF2B5EF4-FFF2-40B4-BE49-F238E27FC236}">
                <a16:creationId xmlns:a16="http://schemas.microsoft.com/office/drawing/2014/main" id="{0F437C0E-23AA-B59C-3717-33EB4CC03CB9}"/>
              </a:ext>
            </a:extLst>
          </p:cNvPr>
          <p:cNvSpPr/>
          <p:nvPr/>
        </p:nvSpPr>
        <p:spPr>
          <a:xfrm rot="10800000">
            <a:off x="5089820" y="4662755"/>
            <a:ext cx="873303" cy="452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44BACDA-AA76-8AD3-2205-3FD5DD36D797}"/>
              </a:ext>
            </a:extLst>
          </p:cNvPr>
          <p:cNvSpPr txBox="1"/>
          <p:nvPr/>
        </p:nvSpPr>
        <p:spPr>
          <a:xfrm>
            <a:off x="2861353" y="4745487"/>
            <a:ext cx="2171576" cy="369332"/>
          </a:xfrm>
          <a:prstGeom prst="rect">
            <a:avLst/>
          </a:prstGeom>
          <a:solidFill>
            <a:schemeClr val="accent6">
              <a:lumMod val="40000"/>
              <a:lumOff val="60000"/>
            </a:schemeClr>
          </a:solidFill>
        </p:spPr>
        <p:txBody>
          <a:bodyPr wrap="square">
            <a:spAutoFit/>
          </a:bodyPr>
          <a:lstStyle/>
          <a:p>
            <a:pPr algn="l">
              <a:buNone/>
            </a:pPr>
            <a:r>
              <a:rPr lang="en-IN" b="0" i="0" dirty="0">
                <a:solidFill>
                  <a:srgbClr val="1F2328"/>
                </a:solidFill>
                <a:effectLst/>
                <a:latin typeface="Monaspace Neon"/>
              </a:rPr>
              <a:t>Authrepository</a:t>
            </a:r>
          </a:p>
        </p:txBody>
      </p:sp>
      <p:cxnSp>
        <p:nvCxnSpPr>
          <p:cNvPr id="16" name="Straight Arrow Connector 15">
            <a:extLst>
              <a:ext uri="{FF2B5EF4-FFF2-40B4-BE49-F238E27FC236}">
                <a16:creationId xmlns:a16="http://schemas.microsoft.com/office/drawing/2014/main" id="{626830EE-371C-DC6F-494D-BB4167284225}"/>
              </a:ext>
            </a:extLst>
          </p:cNvPr>
          <p:cNvCxnSpPr>
            <a:stCxn id="14" idx="1"/>
          </p:cNvCxnSpPr>
          <p:nvPr/>
        </p:nvCxnSpPr>
        <p:spPr>
          <a:xfrm flipH="1">
            <a:off x="2501377" y="4930153"/>
            <a:ext cx="359976"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700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72DEAE-83FC-408B-A2EA-ECC3168CBB09}"/>
              </a:ext>
            </a:extLst>
          </p:cNvPr>
          <p:cNvSpPr txBox="1"/>
          <p:nvPr/>
        </p:nvSpPr>
        <p:spPr>
          <a:xfrm>
            <a:off x="842482" y="727508"/>
            <a:ext cx="4654192" cy="3534750"/>
          </a:xfrm>
          <a:prstGeom prst="rect">
            <a:avLst/>
          </a:prstGeom>
          <a:solidFill>
            <a:schemeClr val="bg2">
              <a:lumMod val="90000"/>
            </a:schemeClr>
          </a:solidFill>
        </p:spPr>
        <p:txBody>
          <a:bodyPr wrap="square">
            <a:spAutoFit/>
          </a:bodyPr>
          <a:lstStyle/>
          <a:p>
            <a:pPr>
              <a:lnSpc>
                <a:spcPct val="107000"/>
              </a:lnSpc>
              <a:spcAft>
                <a:spcPts val="800"/>
              </a:spcAft>
              <a:buNone/>
            </a:pPr>
            <a:r>
              <a:rPr lang="en-IN" sz="1600" b="1" kern="0" dirty="0" err="1">
                <a:effectLst/>
                <a:latin typeface="Times New Roman" panose="02020603050405020304" pitchFamily="18" charset="0"/>
                <a:ea typeface="Times New Roman" panose="02020603050405020304" pitchFamily="18" charset="0"/>
                <a:cs typeface="Latha" panose="020B0604020202020204" pitchFamily="34" charset="0"/>
              </a:rPr>
              <a:t>AuthController</a:t>
            </a:r>
            <a:r>
              <a:rPr lang="en-IN" sz="1600" b="1"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600" b="1" kern="0" dirty="0" err="1">
                <a:effectLst/>
                <a:latin typeface="Times New Roman" panose="02020603050405020304" pitchFamily="18" charset="0"/>
                <a:ea typeface="Times New Roman" panose="02020603050405020304" pitchFamily="18" charset="0"/>
                <a:cs typeface="Latha" panose="020B0604020202020204" pitchFamily="34" charset="0"/>
              </a:rPr>
              <a:t>Signin</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CLASS </a:t>
            </a:r>
            <a:r>
              <a:rPr lang="en-IN" sz="1600" kern="0" dirty="0" err="1">
                <a:effectLst/>
                <a:latin typeface="Times New Roman" panose="02020603050405020304" pitchFamily="18" charset="0"/>
                <a:ea typeface="Times New Roman" panose="02020603050405020304" pitchFamily="18" charset="0"/>
                <a:cs typeface="Latha" panose="020B0604020202020204" pitchFamily="34" charset="0"/>
              </a:rPr>
              <a:t>AuthController</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FUNCTION </a:t>
            </a:r>
            <a:r>
              <a:rPr lang="en-IN" sz="1600" kern="0" dirty="0" err="1">
                <a:effectLst/>
                <a:latin typeface="Times New Roman" panose="02020603050405020304" pitchFamily="18" charset="0"/>
                <a:ea typeface="Times New Roman" panose="02020603050405020304" pitchFamily="18" charset="0"/>
                <a:cs typeface="Latha" panose="020B0604020202020204" pitchFamily="34" charset="0"/>
              </a:rPr>
              <a:t>signin</a:t>
            </a: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(request)</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username = </a:t>
            </a:r>
            <a:r>
              <a:rPr lang="en-IN" sz="1600" kern="0" dirty="0" err="1">
                <a:effectLst/>
                <a:latin typeface="Times New Roman" panose="02020603050405020304" pitchFamily="18" charset="0"/>
                <a:ea typeface="Times New Roman" panose="02020603050405020304" pitchFamily="18" charset="0"/>
                <a:cs typeface="Latha" panose="020B0604020202020204" pitchFamily="34" charset="0"/>
              </a:rPr>
              <a:t>request.username</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password = </a:t>
            </a:r>
            <a:r>
              <a:rPr lang="en-IN" sz="1600" kern="0" dirty="0" err="1">
                <a:effectLst/>
                <a:latin typeface="Times New Roman" panose="02020603050405020304" pitchFamily="18" charset="0"/>
                <a:ea typeface="Times New Roman" panose="02020603050405020304" pitchFamily="18" charset="0"/>
                <a:cs typeface="Latha" panose="020B0604020202020204" pitchFamily="34" charset="0"/>
              </a:rPr>
              <a:t>request.password</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token = </a:t>
            </a:r>
            <a:r>
              <a:rPr lang="en-IN" sz="1600" kern="0" dirty="0" err="1">
                <a:effectLst/>
                <a:latin typeface="Times New Roman" panose="02020603050405020304" pitchFamily="18" charset="0"/>
                <a:ea typeface="Times New Roman" panose="02020603050405020304" pitchFamily="18" charset="0"/>
                <a:cs typeface="Latha" panose="020B0604020202020204" pitchFamily="34" charset="0"/>
              </a:rPr>
              <a:t>AuthService.authenticate</a:t>
            </a: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(username, password)</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RETURN token</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    END FUNCTION</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END CLASS</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6" name="TextBox 5">
            <a:extLst>
              <a:ext uri="{FF2B5EF4-FFF2-40B4-BE49-F238E27FC236}">
                <a16:creationId xmlns:a16="http://schemas.microsoft.com/office/drawing/2014/main" id="{76166296-B862-2F68-F99D-45601DA24F22}"/>
              </a:ext>
            </a:extLst>
          </p:cNvPr>
          <p:cNvSpPr txBox="1"/>
          <p:nvPr/>
        </p:nvSpPr>
        <p:spPr>
          <a:xfrm>
            <a:off x="6369978" y="1302861"/>
            <a:ext cx="4448710" cy="5039200"/>
          </a:xfrm>
          <a:prstGeom prst="rect">
            <a:avLst/>
          </a:prstGeom>
          <a:solidFill>
            <a:schemeClr val="accent2">
              <a:lumMod val="20000"/>
              <a:lumOff val="80000"/>
            </a:schemeClr>
          </a:solidFill>
        </p:spPr>
        <p:txBody>
          <a:bodyPr wrap="square">
            <a:spAutoFit/>
          </a:bodyPr>
          <a:lstStyle/>
          <a:p>
            <a:pPr>
              <a:lnSpc>
                <a:spcPct val="107000"/>
              </a:lnSpc>
              <a:spcAft>
                <a:spcPts val="800"/>
              </a:spcAft>
              <a:buNone/>
            </a:pPr>
            <a:r>
              <a:rPr lang="en-IN" sz="1400" b="1" kern="0" dirty="0" err="1">
                <a:effectLst/>
                <a:latin typeface="Times New Roman" panose="02020603050405020304" pitchFamily="18" charset="0"/>
                <a:ea typeface="Times New Roman" panose="02020603050405020304" pitchFamily="18" charset="0"/>
                <a:cs typeface="Latha" panose="020B0604020202020204" pitchFamily="34" charset="0"/>
              </a:rPr>
              <a:t>AuthService</a:t>
            </a:r>
            <a:r>
              <a:rPr lang="en-IN" sz="1400" b="1" kern="0" dirty="0">
                <a:effectLst/>
                <a:latin typeface="Times New Roman" panose="02020603050405020304" pitchFamily="18" charset="0"/>
                <a:ea typeface="Times New Roman" panose="02020603050405020304" pitchFamily="18" charset="0"/>
                <a:cs typeface="Latha" panose="020B0604020202020204" pitchFamily="34" charset="0"/>
              </a:rPr>
              <a:t> – </a:t>
            </a:r>
            <a:r>
              <a:rPr lang="en-IN" sz="1400" b="1" kern="0" dirty="0" err="1">
                <a:effectLst/>
                <a:latin typeface="Times New Roman" panose="02020603050405020304" pitchFamily="18" charset="0"/>
                <a:ea typeface="Times New Roman" panose="02020603050405020304" pitchFamily="18" charset="0"/>
                <a:cs typeface="Latha" panose="020B0604020202020204" pitchFamily="34" charset="0"/>
              </a:rPr>
              <a:t>Signin</a:t>
            </a:r>
            <a:r>
              <a:rPr lang="en-IN" sz="1400" b="1" kern="0" dirty="0">
                <a:effectLst/>
                <a:latin typeface="Times New Roman" panose="02020603050405020304" pitchFamily="18" charset="0"/>
                <a:ea typeface="Times New Roman" panose="02020603050405020304" pitchFamily="18" charset="0"/>
                <a:cs typeface="Latha" panose="020B0604020202020204" pitchFamily="34" charset="0"/>
              </a:rPr>
              <a:t> Logic</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CLASS </a:t>
            </a:r>
            <a:r>
              <a:rPr lang="en-IN" sz="1400" kern="0" dirty="0" err="1">
                <a:effectLst/>
                <a:latin typeface="Times New Roman" panose="02020603050405020304" pitchFamily="18" charset="0"/>
                <a:ea typeface="Times New Roman" panose="02020603050405020304" pitchFamily="18" charset="0"/>
                <a:cs typeface="Latha" panose="020B0604020202020204" pitchFamily="34" charset="0"/>
              </a:rPr>
              <a:t>AuthService</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FUNCTION authenticate(username, password)</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user = </a:t>
            </a:r>
            <a:r>
              <a:rPr lang="en-IN" sz="1400" kern="0" dirty="0" err="1">
                <a:effectLst/>
                <a:latin typeface="Times New Roman" panose="02020603050405020304" pitchFamily="18" charset="0"/>
                <a:ea typeface="Times New Roman" panose="02020603050405020304" pitchFamily="18" charset="0"/>
                <a:cs typeface="Latha" panose="020B0604020202020204" pitchFamily="34" charset="0"/>
              </a:rPr>
              <a:t>UserRepository.findByUsername</a:t>
            </a: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(username)</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IF user does not exist THEN</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RETURN "Invalid username"</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END IF</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IF password matches encrypted password THEN</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token = </a:t>
            </a:r>
            <a:r>
              <a:rPr lang="en-IN" sz="1400" kern="0" dirty="0" err="1">
                <a:effectLst/>
                <a:latin typeface="Times New Roman" panose="02020603050405020304" pitchFamily="18" charset="0"/>
                <a:ea typeface="Times New Roman" panose="02020603050405020304" pitchFamily="18" charset="0"/>
                <a:cs typeface="Latha" panose="020B0604020202020204" pitchFamily="34" charset="0"/>
              </a:rPr>
              <a:t>JWTUtility.generateToken</a:t>
            </a: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(user)</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RETURN token</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ELSE</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RETURN "Invalid password"</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END IF</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    END FUNCTION </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a:p>
            <a:pPr>
              <a:lnSpc>
                <a:spcPct val="107000"/>
              </a:lnSpc>
              <a:spcAft>
                <a:spcPts val="80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kern="0" dirty="0">
                <a:effectLst/>
                <a:latin typeface="Times New Roman" panose="02020603050405020304" pitchFamily="18" charset="0"/>
                <a:ea typeface="Times New Roman" panose="02020603050405020304" pitchFamily="18" charset="0"/>
                <a:cs typeface="Latha" panose="020B0604020202020204" pitchFamily="34" charset="0"/>
              </a:rPr>
              <a:t>END CLASS</a:t>
            </a:r>
            <a:endParaRPr lang="en-IN" sz="1200" kern="100" dirty="0">
              <a:effectLst/>
              <a:latin typeface="Calibri" panose="020F0502020204030204" pitchFamily="34" charset="0"/>
              <a:ea typeface="Calibri" panose="020F0502020204030204" pitchFamily="34" charset="0"/>
              <a:cs typeface="Latha" panose="020B0604020202020204" pitchFamily="34" charset="0"/>
            </a:endParaRPr>
          </a:p>
        </p:txBody>
      </p:sp>
      <p:sp>
        <p:nvSpPr>
          <p:cNvPr id="7" name="Arrow: Right 6">
            <a:extLst>
              <a:ext uri="{FF2B5EF4-FFF2-40B4-BE49-F238E27FC236}">
                <a16:creationId xmlns:a16="http://schemas.microsoft.com/office/drawing/2014/main" id="{6EC89F83-6E36-083F-F7D9-E3C7C16BBA5A}"/>
              </a:ext>
            </a:extLst>
          </p:cNvPr>
          <p:cNvSpPr/>
          <p:nvPr/>
        </p:nvSpPr>
        <p:spPr>
          <a:xfrm>
            <a:off x="5578867" y="2268851"/>
            <a:ext cx="708917" cy="452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80D421A-5BFA-6323-1D23-C79A38C3E20D}"/>
              </a:ext>
            </a:extLst>
          </p:cNvPr>
          <p:cNvSpPr txBox="1"/>
          <p:nvPr/>
        </p:nvSpPr>
        <p:spPr>
          <a:xfrm>
            <a:off x="6096000" y="340992"/>
            <a:ext cx="4299734" cy="704104"/>
          </a:xfrm>
          <a:prstGeom prst="rect">
            <a:avLst/>
          </a:prstGeom>
          <a:noFill/>
        </p:spPr>
        <p:txBody>
          <a:bodyPr wrap="square">
            <a:spAutoFit/>
          </a:bodyPr>
          <a:lstStyle/>
          <a:p>
            <a:pPr lvl="0">
              <a:lnSpc>
                <a:spcPct val="107000"/>
              </a:lnSpc>
              <a:spcAft>
                <a:spcPts val="800"/>
              </a:spcAft>
              <a:buSzPts val="1000"/>
              <a:tabLst>
                <a:tab pos="45720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Verifies username</a:t>
            </a:r>
            <a:r>
              <a:rPr lang="en-IN" sz="1400" kern="100" dirty="0">
                <a:latin typeface="Calibri" panose="020F0502020204030204" pitchFamily="34" charset="0"/>
                <a:ea typeface="Calibri" panose="020F0502020204030204" pitchFamily="34" charset="0"/>
                <a:cs typeface="Latha" panose="020B0604020202020204" pitchFamily="34" charset="0"/>
              </a:rPr>
              <a:t>,</a:t>
            </a:r>
          </a:p>
          <a:p>
            <a:pPr lvl="0">
              <a:lnSpc>
                <a:spcPct val="107000"/>
              </a:lnSpc>
              <a:spcAft>
                <a:spcPts val="800"/>
              </a:spcAft>
              <a:buSzPts val="1000"/>
              <a:tabLst>
                <a:tab pos="457200" algn="l"/>
              </a:tabLst>
            </a:pP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Verifies password </a:t>
            </a:r>
            <a:r>
              <a:rPr lang="en-IN" sz="1400" kern="100" dirty="0">
                <a:latin typeface="Calibri" panose="020F0502020204030204" pitchFamily="34" charset="0"/>
                <a:ea typeface="Calibri" panose="020F0502020204030204" pitchFamily="34" charset="0"/>
                <a:cs typeface="Latha" panose="020B0604020202020204" pitchFamily="34" charset="0"/>
              </a:rPr>
              <a:t>, </a:t>
            </a:r>
            <a:r>
              <a:rPr lang="en-IN" sz="1600" kern="0" dirty="0">
                <a:effectLst/>
                <a:latin typeface="Times New Roman" panose="02020603050405020304" pitchFamily="18" charset="0"/>
                <a:ea typeface="Times New Roman" panose="02020603050405020304" pitchFamily="18" charset="0"/>
                <a:cs typeface="Latha" panose="020B0604020202020204" pitchFamily="34" charset="0"/>
              </a:rPr>
              <a:t>Generates JWT token</a:t>
            </a:r>
            <a:endParaRPr lang="en-IN" sz="1400" kern="100" dirty="0">
              <a:effectLst/>
              <a:latin typeface="Calibri" panose="020F0502020204030204" pitchFamily="34" charset="0"/>
              <a:ea typeface="Calibri" panose="020F0502020204030204" pitchFamily="34" charset="0"/>
              <a:cs typeface="Latha" panose="020B0604020202020204" pitchFamily="34" charset="0"/>
            </a:endParaRPr>
          </a:p>
        </p:txBody>
      </p:sp>
      <p:pic>
        <p:nvPicPr>
          <p:cNvPr id="10" name="Picture 9">
            <a:extLst>
              <a:ext uri="{FF2B5EF4-FFF2-40B4-BE49-F238E27FC236}">
                <a16:creationId xmlns:a16="http://schemas.microsoft.com/office/drawing/2014/main" id="{F7F9D5A0-0604-264A-12CC-55A43BD558D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73312" y="4859195"/>
            <a:ext cx="1409867" cy="1705699"/>
          </a:xfrm>
          <a:prstGeom prst="rect">
            <a:avLst/>
          </a:prstGeom>
        </p:spPr>
      </p:pic>
      <p:sp>
        <p:nvSpPr>
          <p:cNvPr id="11" name="Arrow: Right 10">
            <a:extLst>
              <a:ext uri="{FF2B5EF4-FFF2-40B4-BE49-F238E27FC236}">
                <a16:creationId xmlns:a16="http://schemas.microsoft.com/office/drawing/2014/main" id="{5348ECF7-31F6-0AC1-C0CD-A9F8407EF5CD}"/>
              </a:ext>
            </a:extLst>
          </p:cNvPr>
          <p:cNvSpPr/>
          <p:nvPr/>
        </p:nvSpPr>
        <p:spPr>
          <a:xfrm rot="10800000">
            <a:off x="5142215" y="5259981"/>
            <a:ext cx="873303" cy="452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B6F4083-9ED6-A27B-C36B-3D6E040FA017}"/>
              </a:ext>
            </a:extLst>
          </p:cNvPr>
          <p:cNvSpPr txBox="1"/>
          <p:nvPr/>
        </p:nvSpPr>
        <p:spPr>
          <a:xfrm>
            <a:off x="3146461" y="5268538"/>
            <a:ext cx="1833937" cy="369332"/>
          </a:xfrm>
          <a:prstGeom prst="rect">
            <a:avLst/>
          </a:prstGeom>
          <a:solidFill>
            <a:schemeClr val="accent6">
              <a:lumMod val="40000"/>
              <a:lumOff val="60000"/>
            </a:schemeClr>
          </a:solidFill>
        </p:spPr>
        <p:txBody>
          <a:bodyPr wrap="square">
            <a:spAutoFit/>
          </a:bodyPr>
          <a:lstStyle/>
          <a:p>
            <a:pPr algn="l">
              <a:buNone/>
            </a:pPr>
            <a:r>
              <a:rPr lang="en-IN" b="0" i="0" dirty="0">
                <a:solidFill>
                  <a:srgbClr val="1F2328"/>
                </a:solidFill>
                <a:effectLst/>
                <a:latin typeface="Monaspace Neon"/>
              </a:rPr>
              <a:t>Authrepository</a:t>
            </a:r>
          </a:p>
        </p:txBody>
      </p:sp>
      <p:cxnSp>
        <p:nvCxnSpPr>
          <p:cNvPr id="16" name="Straight Arrow Connector 15">
            <a:extLst>
              <a:ext uri="{FF2B5EF4-FFF2-40B4-BE49-F238E27FC236}">
                <a16:creationId xmlns:a16="http://schemas.microsoft.com/office/drawing/2014/main" id="{38A66073-64F1-DD89-4239-7977338DED79}"/>
              </a:ext>
            </a:extLst>
          </p:cNvPr>
          <p:cNvCxnSpPr>
            <a:endCxn id="10" idx="3"/>
          </p:cNvCxnSpPr>
          <p:nvPr/>
        </p:nvCxnSpPr>
        <p:spPr>
          <a:xfrm flipH="1">
            <a:off x="2783179" y="5486013"/>
            <a:ext cx="227149" cy="226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658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F35012-C123-0406-8073-F89DCEB687B0}"/>
              </a:ext>
            </a:extLst>
          </p:cNvPr>
          <p:cNvPicPr>
            <a:picLocks noChangeAspect="1"/>
          </p:cNvPicPr>
          <p:nvPr/>
        </p:nvPicPr>
        <p:blipFill>
          <a:blip r:embed="rId2">
            <a:extLst>
              <a:ext uri="{28A0092B-C50C-407E-A947-70E740481C1C}">
                <a14:useLocalDpi xmlns:a14="http://schemas.microsoft.com/office/drawing/2010/main" val="0"/>
              </a:ext>
            </a:extLst>
          </a:blip>
          <a:srcRect l="22837" r="23652"/>
          <a:stretch>
            <a:fillRect/>
          </a:stretch>
        </p:blipFill>
        <p:spPr>
          <a:xfrm>
            <a:off x="339047" y="589326"/>
            <a:ext cx="4925703" cy="3962126"/>
          </a:xfrm>
          <a:prstGeom prst="rect">
            <a:avLst/>
          </a:prstGeom>
        </p:spPr>
      </p:pic>
      <p:pic>
        <p:nvPicPr>
          <p:cNvPr id="6" name="Picture 5">
            <a:extLst>
              <a:ext uri="{FF2B5EF4-FFF2-40B4-BE49-F238E27FC236}">
                <a16:creationId xmlns:a16="http://schemas.microsoft.com/office/drawing/2014/main" id="{DF397220-ACF1-B307-5C60-0518EDA4A8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1982" y="871604"/>
            <a:ext cx="6040971" cy="2859614"/>
          </a:xfrm>
          <a:prstGeom prst="rect">
            <a:avLst/>
          </a:prstGeom>
        </p:spPr>
      </p:pic>
      <p:sp>
        <p:nvSpPr>
          <p:cNvPr id="7" name="Oval 6">
            <a:extLst>
              <a:ext uri="{FF2B5EF4-FFF2-40B4-BE49-F238E27FC236}">
                <a16:creationId xmlns:a16="http://schemas.microsoft.com/office/drawing/2014/main" id="{AEF2585A-F50A-253D-650E-CAC5D364A139}"/>
              </a:ext>
            </a:extLst>
          </p:cNvPr>
          <p:cNvSpPr/>
          <p:nvPr/>
        </p:nvSpPr>
        <p:spPr>
          <a:xfrm>
            <a:off x="5907640" y="2301411"/>
            <a:ext cx="750014" cy="29795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2746C560-67FE-C7A4-DEC4-DEDCD9F04985}"/>
              </a:ext>
            </a:extLst>
          </p:cNvPr>
          <p:cNvPicPr>
            <a:picLocks noChangeAspect="1"/>
          </p:cNvPicPr>
          <p:nvPr/>
        </p:nvPicPr>
        <p:blipFill>
          <a:blip r:embed="rId4">
            <a:extLst>
              <a:ext uri="{28A0092B-C50C-407E-A947-70E740481C1C}">
                <a14:useLocalDpi xmlns:a14="http://schemas.microsoft.com/office/drawing/2010/main" val="0"/>
              </a:ext>
            </a:extLst>
          </a:blip>
          <a:srcRect l="353" t="17681" b="19340"/>
          <a:stretch>
            <a:fillRect/>
          </a:stretch>
        </p:blipFill>
        <p:spPr>
          <a:xfrm>
            <a:off x="2979505" y="4258639"/>
            <a:ext cx="8709061" cy="2392180"/>
          </a:xfrm>
          <a:prstGeom prst="rect">
            <a:avLst/>
          </a:prstGeom>
        </p:spPr>
      </p:pic>
      <p:cxnSp>
        <p:nvCxnSpPr>
          <p:cNvPr id="11" name="Straight Arrow Connector 10">
            <a:extLst>
              <a:ext uri="{FF2B5EF4-FFF2-40B4-BE49-F238E27FC236}">
                <a16:creationId xmlns:a16="http://schemas.microsoft.com/office/drawing/2014/main" id="{40CA823E-D22E-78BD-2ED3-8A6E4A718B84}"/>
              </a:ext>
            </a:extLst>
          </p:cNvPr>
          <p:cNvCxnSpPr/>
          <p:nvPr/>
        </p:nvCxnSpPr>
        <p:spPr>
          <a:xfrm flipH="1">
            <a:off x="4510355" y="2570389"/>
            <a:ext cx="1772292" cy="31420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FBF0040F-BED2-0015-46CD-A10F8772E0A0}"/>
              </a:ext>
            </a:extLst>
          </p:cNvPr>
          <p:cNvSpPr txBox="1"/>
          <p:nvPr/>
        </p:nvSpPr>
        <p:spPr>
          <a:xfrm>
            <a:off x="1910993" y="226031"/>
            <a:ext cx="1387011" cy="369332"/>
          </a:xfrm>
          <a:prstGeom prst="rect">
            <a:avLst/>
          </a:prstGeom>
          <a:noFill/>
        </p:spPr>
        <p:txBody>
          <a:bodyPr wrap="square" rtlCol="0">
            <a:spAutoFit/>
          </a:bodyPr>
          <a:lstStyle/>
          <a:p>
            <a:r>
              <a:rPr lang="en-IN" dirty="0"/>
              <a:t>Login Page</a:t>
            </a:r>
          </a:p>
        </p:txBody>
      </p:sp>
      <p:sp>
        <p:nvSpPr>
          <p:cNvPr id="15" name="Oval 14">
            <a:extLst>
              <a:ext uri="{FF2B5EF4-FFF2-40B4-BE49-F238E27FC236}">
                <a16:creationId xmlns:a16="http://schemas.microsoft.com/office/drawing/2014/main" id="{365872A9-7675-F575-6A98-81C71C49D651}"/>
              </a:ext>
            </a:extLst>
          </p:cNvPr>
          <p:cNvSpPr/>
          <p:nvPr/>
        </p:nvSpPr>
        <p:spPr>
          <a:xfrm>
            <a:off x="10325528" y="4258639"/>
            <a:ext cx="1212351" cy="52911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E96BB2E3-B233-7B4A-0F97-0280E55AB589}"/>
              </a:ext>
            </a:extLst>
          </p:cNvPr>
          <p:cNvSpPr txBox="1"/>
          <p:nvPr/>
        </p:nvSpPr>
        <p:spPr>
          <a:xfrm>
            <a:off x="8147407" y="3905121"/>
            <a:ext cx="2130176" cy="646331"/>
          </a:xfrm>
          <a:prstGeom prst="rect">
            <a:avLst/>
          </a:prstGeom>
          <a:solidFill>
            <a:schemeClr val="bg2"/>
          </a:solidFill>
        </p:spPr>
        <p:txBody>
          <a:bodyPr wrap="square" rtlCol="0">
            <a:spAutoFit/>
          </a:bodyPr>
          <a:lstStyle/>
          <a:p>
            <a:r>
              <a:rPr lang="en-IN" dirty="0"/>
              <a:t>Only admin add and manage user</a:t>
            </a:r>
          </a:p>
        </p:txBody>
      </p:sp>
      <p:sp>
        <p:nvSpPr>
          <p:cNvPr id="17" name="Arrow: Right 16">
            <a:extLst>
              <a:ext uri="{FF2B5EF4-FFF2-40B4-BE49-F238E27FC236}">
                <a16:creationId xmlns:a16="http://schemas.microsoft.com/office/drawing/2014/main" id="{590F202A-6268-2F31-B8E1-2DA964FD9CEB}"/>
              </a:ext>
            </a:extLst>
          </p:cNvPr>
          <p:cNvSpPr/>
          <p:nvPr/>
        </p:nvSpPr>
        <p:spPr>
          <a:xfrm>
            <a:off x="5054885" y="2301411"/>
            <a:ext cx="647272" cy="5650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29843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11D5B4-D963-DEDE-9D52-6D876A102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773" y="877747"/>
            <a:ext cx="11301573" cy="5266893"/>
          </a:xfrm>
          <a:prstGeom prst="rect">
            <a:avLst/>
          </a:prstGeom>
        </p:spPr>
      </p:pic>
    </p:spTree>
    <p:extLst>
      <p:ext uri="{BB962C8B-B14F-4D97-AF65-F5344CB8AC3E}">
        <p14:creationId xmlns:p14="http://schemas.microsoft.com/office/powerpoint/2010/main" val="606253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2B9A-9266-67E5-56E3-A567D2D67A88}"/>
              </a:ext>
            </a:extLst>
          </p:cNvPr>
          <p:cNvSpPr>
            <a:spLocks noGrp="1"/>
          </p:cNvSpPr>
          <p:nvPr>
            <p:ph type="title"/>
          </p:nvPr>
        </p:nvSpPr>
        <p:spPr/>
        <p:txBody>
          <a:bodyPr/>
          <a:lstStyle/>
          <a:p>
            <a:r>
              <a:rPr lang="en-US" b="1" dirty="0"/>
              <a:t>Conclusion</a:t>
            </a:r>
            <a:endParaRPr lang="en-IN" dirty="0"/>
          </a:p>
        </p:txBody>
      </p:sp>
      <p:sp>
        <p:nvSpPr>
          <p:cNvPr id="4" name="TextBox 3">
            <a:extLst>
              <a:ext uri="{FF2B5EF4-FFF2-40B4-BE49-F238E27FC236}">
                <a16:creationId xmlns:a16="http://schemas.microsoft.com/office/drawing/2014/main" id="{FB255AF8-E482-ED0F-29F0-ECDF7B1987A8}"/>
              </a:ext>
            </a:extLst>
          </p:cNvPr>
          <p:cNvSpPr txBox="1"/>
          <p:nvPr/>
        </p:nvSpPr>
        <p:spPr>
          <a:xfrm>
            <a:off x="996593" y="2143842"/>
            <a:ext cx="8825500" cy="1908215"/>
          </a:xfrm>
          <a:prstGeom prst="rect">
            <a:avLst/>
          </a:prstGeom>
          <a:noFill/>
        </p:spPr>
        <p:txBody>
          <a:bodyPr wrap="square">
            <a:spAutoFit/>
          </a:bodyPr>
          <a:lstStyle/>
          <a:p>
            <a:pPr>
              <a:buNone/>
            </a:pPr>
            <a:endParaRPr lang="en-US" dirty="0"/>
          </a:p>
          <a:p>
            <a:pPr>
              <a:buNone/>
            </a:pPr>
            <a:r>
              <a:rPr lang="en-US" sz="2000" dirty="0"/>
              <a:t>The authentication module ensures secure and controlled access to the </a:t>
            </a:r>
            <a:r>
              <a:rPr lang="en-US" sz="2000" dirty="0" err="1"/>
              <a:t>Inventra</a:t>
            </a:r>
            <a:r>
              <a:rPr lang="en-US" sz="2000" dirty="0"/>
              <a:t> system by using role-based login, JWT authentication, and account status management. Admin can create, activate, or deactivate users, ensuring proper system control. This module improves security, accountability, and smooth user management in the inventory system.</a:t>
            </a:r>
          </a:p>
        </p:txBody>
      </p:sp>
    </p:spTree>
    <p:extLst>
      <p:ext uri="{BB962C8B-B14F-4D97-AF65-F5344CB8AC3E}">
        <p14:creationId xmlns:p14="http://schemas.microsoft.com/office/powerpoint/2010/main" val="416492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495B-75FB-3796-722B-5B2FCF5976BB}"/>
              </a:ext>
            </a:extLst>
          </p:cNvPr>
          <p:cNvSpPr>
            <a:spLocks noGrp="1"/>
          </p:cNvSpPr>
          <p:nvPr>
            <p:ph type="title"/>
          </p:nvPr>
        </p:nvSpPr>
        <p:spPr>
          <a:xfrm>
            <a:off x="1797666" y="2768600"/>
            <a:ext cx="8596668" cy="1320800"/>
          </a:xfrm>
        </p:spPr>
        <p:txBody>
          <a:bodyPr/>
          <a:lstStyle/>
          <a:p>
            <a:pPr algn="ctr"/>
            <a:r>
              <a:rPr lang="en-IN" dirty="0"/>
              <a:t>Thank You</a:t>
            </a:r>
          </a:p>
        </p:txBody>
      </p:sp>
    </p:spTree>
    <p:extLst>
      <p:ext uri="{BB962C8B-B14F-4D97-AF65-F5344CB8AC3E}">
        <p14:creationId xmlns:p14="http://schemas.microsoft.com/office/powerpoint/2010/main" val="4396568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705</TotalTime>
  <Words>778</Words>
  <Application>Microsoft Office PowerPoint</Application>
  <PresentationFormat>Widescreen</PresentationFormat>
  <Paragraphs>114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Monaspace Neon</vt:lpstr>
      <vt:lpstr>Times New Roman</vt:lpstr>
      <vt:lpstr>Trebuchet MS</vt:lpstr>
      <vt:lpstr>Wingdings 3</vt:lpstr>
      <vt:lpstr>Facet</vt:lpstr>
      <vt:lpstr>Inventra – Intelligent Inventory Management System</vt:lpstr>
      <vt:lpstr>Problem Statement:-</vt:lpstr>
      <vt:lpstr>Existing Problem</vt:lpstr>
      <vt:lpstr>Bakery Inventory Management System</vt:lpstr>
      <vt:lpstr>PowerPoint Presentation</vt:lpstr>
      <vt:lpstr>Tech Stack </vt:lpstr>
      <vt:lpstr>Project Structure </vt:lpstr>
      <vt:lpstr>Module 1: User Authentication &amp; Role Management</vt:lpstr>
      <vt:lpstr>Pseudocode</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Raman Haldar</dc:creator>
  <cp:lastModifiedBy>Raman Haldar</cp:lastModifiedBy>
  <cp:revision>3</cp:revision>
  <dcterms:created xsi:type="dcterms:W3CDTF">2026-02-11T15:36:56Z</dcterms:created>
  <dcterms:modified xsi:type="dcterms:W3CDTF">2026-02-12T03:22:43Z</dcterms:modified>
</cp:coreProperties>
</file>